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B3C5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328CC1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B3C5D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SYSTEMS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CV-Technical Presentation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How Image Acquisition Quality Influences Computer Vision Outcomes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Taha M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742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192572173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systems-level walkthrough — from acquisition fundamentals to actionable mitigation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882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88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 acquisition quality matters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304038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0403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3464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vision pipeline — where acquisition fits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409194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0919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88620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acquisition quality factors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514350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1435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93776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problems caused by poor acquisition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178308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47688" y="198882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647688" y="1988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178308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factor → outcome impact analysis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46520" y="283464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47688" y="304038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647688" y="30403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283464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Failure-propagation workflow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46520" y="388620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47688" y="409194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647688" y="40919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388620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 &amp; best practices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46520" y="4937760"/>
            <a:ext cx="5349240" cy="850392"/>
          </a:xfrm>
          <a:prstGeom prst="roundRect">
            <a:avLst>
              <a:gd name="adj" fmla="val 8602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47688" y="514350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647688" y="51435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4937760"/>
            <a:ext cx="4389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Image Acquisition Quality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 is the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most foundational stage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any computer vision pipeline. Every downstream stage — preprocessing, feature extraction, learning, and inference — inherits whatever limitations originate at the point of capture.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algorithmic sophistication can fully recover information that was never captured. This makes acquisition quality a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upper bound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achievable system accuracy — a system-level constraint, not just an image-level nuisance.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4206240" cy="4617720"/>
          </a:xfrm>
          <a:prstGeom prst="roundRect">
            <a:avLst>
              <a:gd name="adj" fmla="val 2174"/>
            </a:avLst>
          </a:prstGeom>
          <a:solidFill>
            <a:srgbClr val="081C2C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DEPENDENCY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205740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328CC1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Output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268833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328CC1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6883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Inference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319272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328CC1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3192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3950208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328CC1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3950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0" y="4581144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5811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stage — every layer above depends on 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Computer Vision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image acquisition sits — and why defects here cascade forward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0724" y="2176272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220724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86584" y="3332988"/>
            <a:ext cx="4343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9" name="Shape 7"/>
          <p:cNvSpPr/>
          <p:nvPr/>
        </p:nvSpPr>
        <p:spPr>
          <a:xfrm>
            <a:off x="2875788" y="2743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2176272"/>
            <a:ext cx="438912" cy="438912"/>
          </a:xfrm>
          <a:prstGeom prst="ellipse">
            <a:avLst/>
          </a:prstGeom>
          <a:solidFill>
            <a:srgbClr val="328CC1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75788" y="27432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13732" y="3332988"/>
            <a:ext cx="4343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14" name="Shape 12"/>
          <p:cNvSpPr/>
          <p:nvPr/>
        </p:nvSpPr>
        <p:spPr>
          <a:xfrm>
            <a:off x="5202936" y="2743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75020" y="2176272"/>
            <a:ext cx="438912" cy="438912"/>
          </a:xfrm>
          <a:prstGeom prst="ellipse">
            <a:avLst/>
          </a:prstGeom>
          <a:solidFill>
            <a:srgbClr val="328CC1"/>
          </a:solidFill>
          <a:ln/>
        </p:spPr>
      </p:sp>
      <p:sp>
        <p:nvSpPr>
          <p:cNvPr id="16" name="Text 14"/>
          <p:cNvSpPr/>
          <p:nvPr/>
        </p:nvSpPr>
        <p:spPr>
          <a:xfrm>
            <a:off x="587502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02936" y="27432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3332988"/>
            <a:ext cx="4343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19" name="Shape 17"/>
          <p:cNvSpPr/>
          <p:nvPr/>
        </p:nvSpPr>
        <p:spPr>
          <a:xfrm>
            <a:off x="7530084" y="2743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02168" y="2176272"/>
            <a:ext cx="438912" cy="438912"/>
          </a:xfrm>
          <a:prstGeom prst="ellipse">
            <a:avLst/>
          </a:prstGeom>
          <a:solidFill>
            <a:srgbClr val="328CC1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30084" y="27432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68028" y="3332988"/>
            <a:ext cx="4343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24" name="Shape 22"/>
          <p:cNvSpPr/>
          <p:nvPr/>
        </p:nvSpPr>
        <p:spPr>
          <a:xfrm>
            <a:off x="9857232" y="2743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29316" y="2176272"/>
            <a:ext cx="438912" cy="438912"/>
          </a:xfrm>
          <a:prstGeom prst="ellipse">
            <a:avLst/>
          </a:prstGeom>
          <a:solidFill>
            <a:srgbClr val="328CC1"/>
          </a:solidFill>
          <a:ln/>
        </p:spPr>
      </p:sp>
      <p:sp>
        <p:nvSpPr>
          <p:cNvPr id="26" name="Text 24"/>
          <p:cNvSpPr/>
          <p:nvPr/>
        </p:nvSpPr>
        <p:spPr>
          <a:xfrm>
            <a:off x="10529316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57232" y="27432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defects are not isolated — they propagate and compound through every subsequent stage, so this first box determines the ceiling on final system reliability.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Image Acquisition Quality Factors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5636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&amp; Sampling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pixel density loses fine detail needed for detection and recognition.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11112" y="167335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0" y="15636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 &amp; Exposure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194767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 causes under/over-exposure, reducing contrast and dynamic range.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34670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32369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62102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and shot noise introduce false features and lower signal-to-noise ratio.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309067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11112" y="334670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0" y="32369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Motion Blur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62102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Out-of-focus or fast-moving subjects blur edges critical to feature extraction.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5020056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8760" y="49103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29437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temporal sampling misses fast events in video-based CV tasks.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476402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11112" y="5020056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315200" y="49103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Distortion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529437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Uncalibrated optics introduce geometric distortion, harming measurement accuracy.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System-Level Problems From Poor Acquisition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image-level defects — how acquisition weaknesses become system failures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B3C5D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670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or blurred inputs propagate and compound through preprocessing and feature extraction stages.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B3C5D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862072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752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 &amp; Poor Generalization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2752344"/>
            <a:ext cx="670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consistently low-quality data biases models toward capture artifacts rather than true features.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B3C5D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831336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31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721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False Positives/Negatives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54880" y="3721608"/>
            <a:ext cx="670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contrast and lost detail drive misclassification in detection and recognition tasks.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9943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B3C5D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80060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800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6908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Resource Overhead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54880" y="4690872"/>
            <a:ext cx="670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for poor input (extra denoising, retries) adds computation and delay.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6869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B3C5D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769864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769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660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Reliability Risk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54880" y="5660136"/>
            <a:ext cx="670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real-time systems (autonomous vehicles, medical imaging), acquisition failures can trigger critical decision errors.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Factor → Outcome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acquisition-stage defects to the system-level outcomes they produce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1148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507992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 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CV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System-Level 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small or distant objects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lighting / low contrast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/ thresholding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object 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noise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/ filtering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edges, higher processing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blur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/ feature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tracking, lower detection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Lens distortion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measurement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Inaccurate measurement &amp; positioning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Failure-Propagation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acquisition defect cascades into a faulty system decision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78024" y="2624328"/>
            <a:ext cx="3200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19659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52928" y="196596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82312" y="2624328"/>
            <a:ext cx="3200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10" name="Shape 8"/>
          <p:cNvSpPr/>
          <p:nvPr/>
        </p:nvSpPr>
        <p:spPr>
          <a:xfrm>
            <a:off x="5157216" y="19659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7216" y="196596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Error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2624328"/>
            <a:ext cx="3200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61504" y="19659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61504" y="196596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90888" y="2624328"/>
            <a:ext cx="320040" cy="237744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16" name="Shape 14"/>
          <p:cNvSpPr/>
          <p:nvPr/>
        </p:nvSpPr>
        <p:spPr>
          <a:xfrm>
            <a:off x="9765792" y="19659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B3251E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65792" y="1965960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System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2F6FA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04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here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cascade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85316" y="3538728"/>
            <a:ext cx="201168" cy="274320"/>
          </a:xfrm>
          <a:prstGeom prst="upArrow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388620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a defect is caught, the cheaper it is to fix — intervening at acquisition prevents every downstream failure in this chain.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Strategies &amp;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70992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Optics Selection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sensor resolution, dynamic range, and lens quality to task requirements.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679192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79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5694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/ Adaptive Illumination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0" y="2569464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lighting or HDR capture to preserve dynamic range and contrast.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648456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387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Routines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0" y="3538728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geometric and photometric calibration to reduce distortion and exposure error.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1655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61772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5079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Safeguards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0" y="4507992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noise filtering and denoising as a quality-check gate before data enters the pipeline.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8581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6FA"/>
          </a:solidFill>
          <a:ln/>
          <a:effectLst>
            <a:outerShdw sx="100000" sy="100000" kx="0" ky="0" algn="bl" rotWithShape="0" blurRad="76200" dist="25400" dir="5400000">
              <a:srgbClr val="0B1F3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5586984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586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4772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Quality Monitoring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0" y="5477256"/>
            <a:ext cx="6428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real-time acquisition metrics (SNR, sharpness score) as a system-level checkpoint.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3840480" cy="3840480"/>
          </a:xfrm>
          <a:prstGeom prst="ellipse">
            <a:avLst/>
          </a:prstGeom>
          <a:solidFill>
            <a:srgbClr val="0B3C5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328CC1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quality sets the upper bound on computer vision system performance — no downstream processing fully compensates for what was never captured.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problems — bias, added latency, safety risk — originate as much from acquisition-stage weaknesses as from model design choices.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584448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acquisition as an integral, monitored, and calibrated pipeline stage — not an afterthought — is essential for reliable, professional CV deployment.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27432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2303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Taha M A   ·   Reg. No: 192572173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CV-Technical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2026-08-10T03:53:50Z</dcterms:created>
  <dcterms:modified xsi:type="dcterms:W3CDTF">2026-08-10T03:53:50Z</dcterms:modified>
</cp:coreProperties>
</file>